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modernComment_106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2" r:id="rId4"/>
    <p:sldId id="260" r:id="rId5"/>
    <p:sldId id="261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8A070F-977D-6D73-292A-07F3ADB077C9}" name="jagadeesh bunny" initials="jb" userId="c0697176a2c74d1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B54E3C-D981-4076-9801-A5B63E201E9C}" authorId="{658A070F-977D-6D73-292A-07F3ADB077C9}" created="2026-09-10T07:15: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5" creationId="{355EFE30-175E-188B-2CF8-9B2C1DE07A03}"/>
    </ac:deMkLst>
    <p188:pos x="3797209" y="274759"/>
    <p188:txBody>
      <a:bodyPr/>
      <a:lstStyle/>
      <a:p>
        <a:r>
          <a:rPr lang="en-IN"/>
          <a:t>2.K.JAGADISH
B.TECH(CSE)DATA SCIENCE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17A5-DB82-5C68-5B20-A490CC14A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3A2E4-D534-764C-188B-BC28A6FA1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B6EF0-8FF4-429D-3505-969FC5B8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964DD-3EC8-B33B-2159-0D6BEA4A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5F09D-16AD-C148-5125-D5F283DB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1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44A1-EE2F-9D41-2497-83474895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D082-5A61-E804-F2BB-481050E9C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327E-A60C-7150-91C0-C6AB3592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26FE-A8BB-85F9-E140-58DC807C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E5F90-38F1-9291-CDBD-92F84175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61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E020-B050-FE28-71D1-A678FF47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B1391-893F-C55E-C1B1-546BCBE86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E256-63D1-77D8-A2B4-48E819CF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A48A6-B77A-5759-5310-B2757B2E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63995-F3CA-44E9-3EA3-B2841369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89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41CA-A911-C680-4DB6-F1426978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82CA6-C86F-B138-D323-A42C83A42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AE78D-1D3B-B8FA-F6A1-D3D6CF2B6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A133-03C1-3AD3-441F-0C4C97ED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A8289-4CA2-C7F4-FE7B-89299F32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31C84-EFBF-C6EE-2CFB-80402026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31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16BF-A7FB-0E76-CDA8-4B417943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3E1BA-D946-23FB-0B47-25CD7A146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B5D8A-ECF0-EBE6-EB41-B4B119E7B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CCF8A-D099-6691-9303-4DE3BF99E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0F7EA6-B6A4-BF8C-CBA6-4205953DA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9171D-BA9A-800C-90E1-641346D8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69D7D-ADA0-5273-B55A-CE20EAC2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52704-4151-7D81-2640-739B24A3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9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9B48-59FB-159C-B36B-6490C79F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209D5-45BF-B2D5-167F-91783840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82433-2393-56D0-9822-AC6F7435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2874D-F91F-2171-F1B8-245AC09D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EC87F-70E9-CC04-1F54-311FC06C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53A36-46BB-D750-5CED-E6D1F44D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1749D-F229-7792-C703-5F436353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5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2306-38EA-27DF-1458-BC5098E1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BAB5-B5D2-4DD5-ABDC-9B28B304C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EFFB9-A8CA-EACF-E4CE-96BFD2CFF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25CC1-6BA4-AA63-FF09-0FB3DACB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4142C-A59D-FEF2-D3C9-DD03B55D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24FED-0B4A-4E66-0698-33D36626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5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CD96-3CA4-02A2-94F1-8E0176D7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EC514-621D-6777-47C4-3FD68989B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14F12-7631-1790-68DB-4649F3619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807D4-D6DE-5E56-DE64-4D0B1BE7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D0F22-C4D3-1DF6-D852-D04A8AFC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91DBD-4079-A0CE-0E2E-410B9BE5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3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EA0D-DE9C-B1AE-3BA6-117168EA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0716E-A828-58E7-C3E2-655A64A14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8F175-7330-57E0-005E-4FD2C4DE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9CB3A-F3B8-FA67-2204-F66A0CB5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CC618-91E4-9AF8-363D-1687BC03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19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A1AC2C-DE3E-09A2-5005-48C710119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DFE8D-AABF-1D31-0BAA-83EF9C893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88FBE-7644-FB92-0894-32E3B655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3AA6E-9BEB-47A5-45DF-20EAA2FB4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DFCB3-0CEF-E7F1-849D-BBC2EDCE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80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1984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6199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1574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8184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91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1DFB7-5220-3748-A2F9-AA6AC170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5630-464F-0705-1317-BC0F0D690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884A2-4286-734F-B677-DAAEFFFCF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E8B00-0BC2-4067-9CD3-75AE97DECEC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9FF46-508F-00A8-9652-FE5ED8964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9574-8202-4205-5846-2080879DD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C07FF-F7BF-49CC-9439-BE510BA91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91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168" y="6286068"/>
            <a:ext cx="2932775" cy="4448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1571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404" y="1277137"/>
            <a:ext cx="10472420" cy="428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415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0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322"/>
            <a:ext cx="12192000" cy="676951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07495" y="4193020"/>
            <a:ext cx="10756489" cy="134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CAREPLUS</a:t>
            </a:r>
            <a:r>
              <a:rPr lang="en-IN" sz="3200" b="1" dirty="0"/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 SYSTEM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PROJECT</a:t>
            </a:r>
            <a:br>
              <a:rPr lang="en-IN" sz="3200" dirty="0"/>
            </a:b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305" y="633094"/>
            <a:ext cx="55143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alibri"/>
                <a:cs typeface="Calibri"/>
              </a:rPr>
              <a:t>ABOUT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TEAM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MEMBERS:-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55EFE30-175E-188B-2CF8-9B2C1DE07A03}"/>
              </a:ext>
            </a:extLst>
          </p:cNvPr>
          <p:cNvSpPr txBox="1"/>
          <p:nvPr/>
        </p:nvSpPr>
        <p:spPr>
          <a:xfrm>
            <a:off x="807448" y="2272498"/>
            <a:ext cx="485891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3276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K.VENKAT RAJ ACHARI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6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CSE(DATA SCIENCE</a:t>
            </a:r>
            <a:r>
              <a:rPr lang="en-US" sz="240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D4180-6A4D-98CF-3ECE-D419BD5E09CD}"/>
              </a:ext>
            </a:extLst>
          </p:cNvPr>
          <p:cNvSpPr txBox="1"/>
          <p:nvPr/>
        </p:nvSpPr>
        <p:spPr>
          <a:xfrm>
            <a:off x="807448" y="3429000"/>
            <a:ext cx="4858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2.JAGADISH</a:t>
            </a:r>
          </a:p>
          <a:p>
            <a:r>
              <a:rPr lang="en-US" sz="2400" dirty="0"/>
              <a:t>B.TECH (CSE)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8390" y="633692"/>
            <a:ext cx="305383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sz="4400" b="1" dirty="0">
                <a:latin typeface="Calibri"/>
                <a:cs typeface="Calibri"/>
              </a:rPr>
              <a:t>:-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8390" y="1420749"/>
            <a:ext cx="8792210" cy="44582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Diagram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Overview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Queries: Patients, Doctors, Appointments, Treatments &amp; Rooms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43865" indent="-431165">
              <a:lnSpc>
                <a:spcPct val="100000"/>
              </a:lnSpc>
              <a:spcBef>
                <a:spcPts val="105"/>
              </a:spcBef>
              <a:buSzPct val="75000"/>
              <a:buFont typeface="Arial MT"/>
              <a:buChar char="•"/>
              <a:tabLst>
                <a:tab pos="443865" algn="l"/>
              </a:tabLst>
            </a:pPr>
            <a:endParaRPr sz="32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3F2DE-443A-116D-0F67-5FF51DF24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026" y="5985336"/>
            <a:ext cx="3215148" cy="7914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575" y="146519"/>
            <a:ext cx="59696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0000"/>
                </a:solidFill>
                <a:latin typeface="Calibri"/>
                <a:cs typeface="Calibri"/>
              </a:rPr>
              <a:t>BUSINESS</a:t>
            </a:r>
            <a:r>
              <a:rPr sz="4800" b="1" spc="-1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FF0000"/>
                </a:solidFill>
                <a:latin typeface="Calibri"/>
                <a:cs typeface="Calibri"/>
              </a:rPr>
              <a:t>OBJECTIVES:-</a:t>
            </a:r>
            <a:endParaRPr sz="4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575" y="903439"/>
            <a:ext cx="10410190" cy="595611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Patient Management</a:t>
            </a:r>
          </a:p>
          <a:p>
            <a:r>
              <a:rPr lang="en-IN" sz="2400" dirty="0"/>
              <a:t>Maintain a centralized database of patient information including demographics, patient type, city, preferred time slot, and registration details.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Appointment Management</a:t>
            </a:r>
          </a:p>
          <a:p>
            <a:r>
              <a:rPr lang="en-IN" sz="2400" dirty="0"/>
              <a:t>Manage patient appointments including appointment dates, doctors, service types, priorities, estimated costs, and booking channels.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Doctor Management</a:t>
            </a:r>
          </a:p>
          <a:p>
            <a:r>
              <a:rPr lang="en-IN" sz="2400" dirty="0"/>
              <a:t>Maintain doctor information and </a:t>
            </a:r>
            <a:r>
              <a:rPr lang="en-IN" sz="2400" dirty="0" err="1"/>
              <a:t>analyze</a:t>
            </a:r>
            <a:r>
              <a:rPr lang="en-IN" sz="2400" dirty="0"/>
              <a:t> doctor-related appointment and service activity.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Treatment Management</a:t>
            </a:r>
          </a:p>
          <a:p>
            <a:r>
              <a:rPr lang="en-IN" sz="2400" dirty="0"/>
              <a:t>Track treatment status, treatment duration, and patient waiting time to evaluate treatment performance.</a:t>
            </a:r>
          </a:p>
          <a:p>
            <a:endParaRPr lang="en-IN" sz="2400" dirty="0"/>
          </a:p>
          <a:p>
            <a:endParaRPr lang="en-IN" sz="2400" dirty="0"/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SzPct val="77272"/>
              <a:buFont typeface="Wingdings"/>
              <a:buChar char=""/>
              <a:tabLst>
                <a:tab pos="354965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57931-B359-F659-4268-ADCAEEA9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207" y="5920060"/>
            <a:ext cx="3215148" cy="7914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B4688B-555F-747B-D28E-4D8AA8FB49D9}"/>
              </a:ext>
            </a:extLst>
          </p:cNvPr>
          <p:cNvSpPr txBox="1"/>
          <p:nvPr/>
        </p:nvSpPr>
        <p:spPr>
          <a:xfrm>
            <a:off x="452285" y="787647"/>
            <a:ext cx="103926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Room Management</a:t>
            </a:r>
          </a:p>
          <a:p>
            <a:r>
              <a:rPr lang="en-IN" sz="2400" dirty="0"/>
              <a:t>Monitor hospital rooms, room types, availability, and allocation to improve resource utilization.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Operational Analysis</a:t>
            </a:r>
          </a:p>
          <a:p>
            <a:r>
              <a:rPr lang="en-IN" sz="2400" dirty="0"/>
              <a:t>Analyse patient activity, appointment trends, treatment outcomes, doctor performance, and room utilization.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Analytical Reporting</a:t>
            </a:r>
          </a:p>
          <a:p>
            <a:r>
              <a:rPr lang="en-IN" sz="2400" dirty="0"/>
              <a:t>Generate reports and business insights using SQL queries and aggregate functions to support better hospital decision-making.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A4D36-E13E-B43E-14AE-362552D8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535" y="5916511"/>
            <a:ext cx="3215148" cy="7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6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43A02-FAAA-2FEA-DCEC-B4E5C0D6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49" y="666756"/>
            <a:ext cx="9282634" cy="552448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E8CABA9-5AF6-B24E-F092-57C72F17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36" y="209292"/>
            <a:ext cx="10440695" cy="492443"/>
          </a:xfrm>
        </p:spPr>
        <p:txBody>
          <a:bodyPr/>
          <a:lstStyle/>
          <a:p>
            <a:r>
              <a:rPr lang="en-US" sz="3200" dirty="0"/>
              <a:t>ENTITY-RELATIONSHIP DIAGRAM: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7909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C756E9-3B53-7E97-C2E9-885F45192025}"/>
              </a:ext>
            </a:extLst>
          </p:cNvPr>
          <p:cNvSpPr txBox="1"/>
          <p:nvPr/>
        </p:nvSpPr>
        <p:spPr>
          <a:xfrm>
            <a:off x="363793" y="409673"/>
            <a:ext cx="1122843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OVERVIEW:-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patient details including Patient ID, patient name, age, gender, city, patient type, preferred time slot, and registration date.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Appointments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appointment information such as Appointment ID, Patient ID, appointment date, Doctor ID, service type, priority, estimated cost, and booking channel.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doctor information and details related to doctors providing hospital services.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Treatments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treatment information including Treatment ID, Appointment ID, treatment status, treatment duration, and waiting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hospital room information including room details, room type, availability, and room allocation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90675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FE51-1E6F-D2A0-9F61-6B0F07B1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5047536"/>
          </a:xfrm>
        </p:spPr>
        <p:txBody>
          <a:bodyPr/>
          <a:lstStyle/>
          <a:p>
            <a:r>
              <a:rPr lang="en-IN" sz="2800" b="1" dirty="0"/>
              <a:t>SQL QUERIES: PATIENT &amp; APPOINTMENT INSIGHTS:-</a:t>
            </a:r>
            <a:br>
              <a:rPr lang="en-IN" b="1" dirty="0"/>
            </a:br>
            <a:br>
              <a:rPr lang="en-IN" dirty="0"/>
            </a:br>
            <a:r>
              <a:rPr lang="en-IN" b="1" dirty="0"/>
              <a:t>1. Identify the top 5 patients based on the number of appointments.</a:t>
            </a: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 </a:t>
            </a:r>
            <a:r>
              <a:rPr lang="en-IN" dirty="0" err="1"/>
              <a:t>OutPut</a:t>
            </a:r>
            <a:r>
              <a:rPr lang="en-IN" dirty="0"/>
              <a:t>:</a:t>
            </a:r>
            <a:br>
              <a:rPr lang="en-IN" dirty="0"/>
            </a:b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B3929-C001-2249-81E4-797447BBB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1118778"/>
            <a:ext cx="6558116" cy="22095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17A4F9-8F94-D9C4-A625-6A082E6B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6" y="4257225"/>
            <a:ext cx="4021392" cy="18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05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B27A-1D04-B669-A3C0-053B54F8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87" y="632079"/>
            <a:ext cx="10440695" cy="5909310"/>
          </a:xfrm>
        </p:spPr>
        <p:txBody>
          <a:bodyPr/>
          <a:lstStyle/>
          <a:p>
            <a:r>
              <a:rPr lang="en-IN" sz="2400" dirty="0"/>
              <a:t>2. Identify patients who have more than 5 appointments.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Output: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C1540-E24A-E1EC-A3B4-BFD0117F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06" y="1282663"/>
            <a:ext cx="7388392" cy="2561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D759D9-1C03-CD7B-B57D-860D5B70A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069" y="3979640"/>
            <a:ext cx="4737576" cy="256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4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0076-16BD-BFE7-D15A-49C10BDE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6894195"/>
          </a:xfrm>
        </p:spPr>
        <p:txBody>
          <a:bodyPr/>
          <a:lstStyle/>
          <a:p>
            <a:r>
              <a:rPr lang="en-IN" sz="2800" b="1" dirty="0"/>
              <a:t>APPOINTMENT ANALYSIS</a:t>
            </a:r>
            <a:br>
              <a:rPr lang="en-IN" b="1" dirty="0"/>
            </a:br>
            <a:r>
              <a:rPr lang="en-IN" b="1" dirty="0"/>
              <a:t>3. Calculate the average estimated appointment cost for each patient type.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Output: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4. Identify the city with the highest total estimated appointment value.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Output: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92B7A-3ACA-8E5A-CB67-183F3EFA3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91" y="1080529"/>
            <a:ext cx="6980695" cy="1121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72798F-6D6C-2F03-559C-F6890E30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76" y="2311308"/>
            <a:ext cx="4422438" cy="1323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CA5105-7494-DB80-FEA1-726BE7765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31" y="4163577"/>
            <a:ext cx="5682867" cy="16138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46EF2-A873-9102-6996-9A5928BE1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228" y="5777471"/>
            <a:ext cx="3643464" cy="87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60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5896-1A9A-1D1C-DFFB-1B51D45D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4924425"/>
          </a:xfrm>
        </p:spPr>
        <p:txBody>
          <a:bodyPr/>
          <a:lstStyle/>
          <a:p>
            <a:r>
              <a:rPr lang="en-IN" b="1" dirty="0"/>
              <a:t>5. Identify the top 5 patients based on their cumulative estimated appointment value.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Output: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F4CCD-2DB4-6E4C-294D-3EFF43085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51" y="820069"/>
            <a:ext cx="6190804" cy="2391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FE17A5-7E0E-6B1F-71E5-56C1594BC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47" y="4693996"/>
            <a:ext cx="4077652" cy="196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52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F1D6-919E-42FE-8883-10F444C6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4678204"/>
          </a:xfrm>
        </p:spPr>
        <p:txBody>
          <a:bodyPr/>
          <a:lstStyle/>
          <a:p>
            <a:r>
              <a:rPr lang="en-IN" sz="2400" b="1" dirty="0"/>
              <a:t>SQL QUERIES: TREATMENT PERFORMANCE INSIGHTS:-</a:t>
            </a:r>
            <a:br>
              <a:rPr lang="en-IN" sz="2400" b="1" dirty="0"/>
            </a:br>
            <a:br>
              <a:rPr lang="en-IN" dirty="0"/>
            </a:br>
            <a:r>
              <a:rPr lang="en-IN" b="1" dirty="0"/>
              <a:t>6. Compare treatment outcomes across different cities.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Output: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62BC5-811F-DFF0-F726-49F421B41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96" y="1007364"/>
            <a:ext cx="6639436" cy="2230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B3085-8C79-04B8-02AF-353172BE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745" y="3811705"/>
            <a:ext cx="4268931" cy="276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54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5A77-9E61-9353-055D-0348E37D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64" y="228957"/>
            <a:ext cx="10440695" cy="4924425"/>
          </a:xfrm>
        </p:spPr>
        <p:txBody>
          <a:bodyPr/>
          <a:lstStyle/>
          <a:p>
            <a:r>
              <a:rPr lang="en-IN" b="1" dirty="0"/>
              <a:t>7. Calculate the number of treatments for each treatment status.</a:t>
            </a:r>
            <a:br>
              <a:rPr lang="en-IN" b="1" dirty="0"/>
            </a:br>
            <a:r>
              <a:rPr lang="en-IN" b="1" dirty="0"/>
              <a:t>Treatment status include:</a:t>
            </a:r>
            <a:br>
              <a:rPr lang="en-IN" dirty="0"/>
            </a:br>
            <a:r>
              <a:rPr lang="en-IN" dirty="0"/>
              <a:t>	Completed</a:t>
            </a:r>
            <a:br>
              <a:rPr lang="en-IN" dirty="0"/>
            </a:br>
            <a:r>
              <a:rPr lang="en-IN" dirty="0"/>
              <a:t>	Rescheduled	</a:t>
            </a:r>
            <a:br>
              <a:rPr lang="en-IN" dirty="0"/>
            </a:br>
            <a:r>
              <a:rPr lang="en-IN" dirty="0"/>
              <a:t>	Cancelled</a:t>
            </a:r>
            <a:br>
              <a:rPr lang="en-IN" dirty="0"/>
            </a:br>
            <a:r>
              <a:rPr lang="en-IN" dirty="0"/>
              <a:t>	No-Show</a:t>
            </a:r>
            <a:br>
              <a:rPr lang="en-IN" dirty="0"/>
            </a:br>
            <a:r>
              <a:rPr lang="en-IN" dirty="0"/>
              <a:t>	In Progress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Output: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A6BAD-417B-5059-6F79-5E35DB38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672" y="2320171"/>
            <a:ext cx="5502332" cy="1894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2EB576-9FA9-8441-54CF-E369C9658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672" y="4537829"/>
            <a:ext cx="3764187" cy="209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81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9D51-0357-3637-36EC-84195437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5293757"/>
          </a:xfrm>
        </p:spPr>
        <p:txBody>
          <a:bodyPr/>
          <a:lstStyle/>
          <a:p>
            <a:r>
              <a:rPr lang="en-IN" sz="2400" b="1" dirty="0"/>
              <a:t>TREATMENT &amp; OPERATIONAL ANALYSIS</a:t>
            </a:r>
            <a:br>
              <a:rPr lang="en-IN" b="1" dirty="0"/>
            </a:br>
            <a:r>
              <a:rPr lang="en-IN" b="1" dirty="0"/>
              <a:t>8. Calculate the minimum, maximum, and average treatment duration and waiting time.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Output: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A117E-5B93-4133-BCC6-BA77A0B0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09" y="1444056"/>
            <a:ext cx="7005682" cy="1984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D2358B-466F-0902-90AD-27834606B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48" y="4169242"/>
            <a:ext cx="8769987" cy="13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3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E10F-6286-9F5D-73A5-DCEDD2565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4616648"/>
          </a:xfrm>
        </p:spPr>
        <p:txBody>
          <a:bodyPr/>
          <a:lstStyle/>
          <a:p>
            <a:br>
              <a:rPr lang="en-US" dirty="0"/>
            </a:br>
            <a:br>
              <a:rPr lang="en-IN" dirty="0"/>
            </a:br>
            <a:r>
              <a:rPr lang="en-US" dirty="0"/>
              <a:t>10. Compare treatment performance over time based on appointment date and treatment status 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595543-6B6C-D742-CB4F-E323A26A3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6" y="1887794"/>
            <a:ext cx="8639692" cy="2064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79490-2E4C-0A77-E2B4-78DA5B86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33" y="3959942"/>
            <a:ext cx="4621631" cy="267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47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212C-F6D1-1E7D-55F2-2378038E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4924425"/>
          </a:xfrm>
        </p:spPr>
        <p:txBody>
          <a:bodyPr/>
          <a:lstStyle/>
          <a:p>
            <a:r>
              <a:rPr lang="en-IN" sz="2800" b="1" dirty="0"/>
              <a:t>DOCTOR &amp; ROOM ANALYSIS:</a:t>
            </a:r>
            <a:br>
              <a:rPr lang="en-IN" sz="2800" dirty="0"/>
            </a:br>
            <a:r>
              <a:rPr lang="en-US" sz="2800" dirty="0"/>
              <a:t> </a:t>
            </a:r>
            <a:r>
              <a:rPr lang="en-US" sz="2400" dirty="0"/>
              <a:t>11. Analyze appointment activity for each doctor.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Output: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96F32-A760-F4E1-2CA1-35F73611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265" y="1116130"/>
            <a:ext cx="7950843" cy="1843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4F410-A7F8-CA88-CA49-55C2819A6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965" y="4046755"/>
            <a:ext cx="4073654" cy="253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91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0808-F81F-F7D5-44D1-7BD40029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29" y="22479"/>
            <a:ext cx="10440695" cy="492442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12. Identify doctors handling the highest number of appointments.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Output: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0293C-C4C7-5998-4D87-7ECC5350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66" y="991639"/>
            <a:ext cx="8244475" cy="22333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082E0F-8EA7-1069-AF62-B09ED37CF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53" y="4878366"/>
            <a:ext cx="5107768" cy="118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08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90681C-3131-9867-F474-C4D7ACF0CDC4}"/>
              </a:ext>
            </a:extLst>
          </p:cNvPr>
          <p:cNvSpPr txBox="1"/>
          <p:nvPr/>
        </p:nvSpPr>
        <p:spPr>
          <a:xfrm>
            <a:off x="589280" y="497840"/>
            <a:ext cx="94488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KEY INSIGHTS:-</a:t>
            </a:r>
            <a:endParaRPr lang="en-IN" sz="2400" dirty="0">
              <a:solidFill>
                <a:srgbClr val="FF0000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Identified patients with the highest appointment frequency.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Identified patients with more than five appointments.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Compared average estimated appointment costs across patient types.</a:t>
            </a:r>
          </a:p>
          <a:p>
            <a:pPr lvl="0"/>
            <a:r>
              <a:rPr lang="en-IN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Identified cities with the highest estimated appointment value.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Identified high-value patients based on cumulative appointment costs.</a:t>
            </a:r>
          </a:p>
          <a:p>
            <a:pPr lvl="0"/>
            <a:r>
              <a:rPr lang="en-IN" sz="2000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 err="1"/>
              <a:t>Analyzed</a:t>
            </a:r>
            <a:r>
              <a:rPr lang="en-IN" sz="2000" dirty="0"/>
              <a:t> treatment outcomes across different cities.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Compared treatment duration and patient waiting time.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Evaluated doctor appointment activity.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 err="1"/>
              <a:t>Analyzed</a:t>
            </a:r>
            <a:r>
              <a:rPr lang="en-IN" sz="2000" dirty="0"/>
              <a:t> room availability and utilization.</a:t>
            </a:r>
          </a:p>
        </p:txBody>
      </p:sp>
    </p:spTree>
    <p:extLst>
      <p:ext uri="{BB962C8B-B14F-4D97-AF65-F5344CB8AC3E}">
        <p14:creationId xmlns:p14="http://schemas.microsoft.com/office/powerpoint/2010/main" val="246358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3F84-A397-4E38-17E7-3A2E4644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49" y="338246"/>
            <a:ext cx="10440695" cy="984885"/>
          </a:xfrm>
        </p:spPr>
        <p:txBody>
          <a:bodyPr/>
          <a:lstStyle/>
          <a:p>
            <a:r>
              <a:rPr lang="en-IN" sz="2400" b="1" dirty="0"/>
              <a:t>HOSPITAL PERFORMANCE INSIGHTS:</a:t>
            </a:r>
            <a:br>
              <a:rPr lang="en-IN" sz="2400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D52E8-564A-37E6-BD35-6A608A1CDE5D}"/>
              </a:ext>
            </a:extLst>
          </p:cNvPr>
          <p:cNvSpPr txBox="1"/>
          <p:nvPr/>
        </p:nvSpPr>
        <p:spPr>
          <a:xfrm>
            <a:off x="224128" y="887443"/>
            <a:ext cx="1033571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Appointment trends help understand patient demand.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City-wise analysis identifies areas with higher hospital activity.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Doctor-wise analysis helps understand workload distribution.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Treatment status analysis highlights successful and unsuccessful outcomes.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Waiting-time analysis helps identify operational bottlenecks.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Room utilization analysis supports better resource allocation.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Patient activity analysis helps understand recurring healthcare demand. </a:t>
            </a:r>
          </a:p>
          <a:p>
            <a:pPr lvl="0"/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Cost analysis supports better financial and operational planning.</a:t>
            </a:r>
          </a:p>
        </p:txBody>
      </p:sp>
    </p:spTree>
    <p:extLst>
      <p:ext uri="{BB962C8B-B14F-4D97-AF65-F5344CB8AC3E}">
        <p14:creationId xmlns:p14="http://schemas.microsoft.com/office/powerpoint/2010/main" val="3987566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BD73E8-B469-CBBE-E024-C9CF14C1CE23}"/>
              </a:ext>
            </a:extLst>
          </p:cNvPr>
          <p:cNvSpPr txBox="1"/>
          <p:nvPr/>
        </p:nvSpPr>
        <p:spPr>
          <a:xfrm>
            <a:off x="518160" y="197346"/>
            <a:ext cx="988568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CHALLENGES FACED:-</a:t>
            </a:r>
            <a:endParaRPr lang="en-I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Designing Relationships</a:t>
            </a:r>
          </a:p>
          <a:p>
            <a:pPr>
              <a:buNone/>
            </a:pPr>
            <a:r>
              <a:rPr lang="en-IN" dirty="0"/>
              <a:t>Establishing relationships among patients, appointments, doctors, treatments, and rooms using primary and foreign keys.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Data Consistency</a:t>
            </a:r>
          </a:p>
          <a:p>
            <a:pPr>
              <a:buNone/>
            </a:pPr>
            <a:r>
              <a:rPr lang="en-IN" dirty="0"/>
              <a:t>Maintaining referential integrity between related hospital tables.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Complex SQL Queries</a:t>
            </a:r>
          </a:p>
          <a:p>
            <a:pPr>
              <a:buNone/>
            </a:pPr>
            <a:r>
              <a:rPr lang="en-IN" dirty="0"/>
              <a:t>Writing multi-table JOIN queries for analytical reports.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Patient &amp; Appointment Tracking</a:t>
            </a:r>
          </a:p>
          <a:p>
            <a:pPr>
              <a:buNone/>
            </a:pPr>
            <a:r>
              <a:rPr lang="en-IN" dirty="0"/>
              <a:t>Managing patient appointments and related treatment information efficiently.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Treatment Analysis</a:t>
            </a:r>
          </a:p>
          <a:p>
            <a:pPr>
              <a:buNone/>
            </a:pPr>
            <a:r>
              <a:rPr lang="en-IN" dirty="0" err="1"/>
              <a:t>Analyzing</a:t>
            </a:r>
            <a:r>
              <a:rPr lang="en-IN" dirty="0"/>
              <a:t> treatment status, duration, and waiting time using aggregate functions.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Doctor &amp; Room Analysis</a:t>
            </a:r>
          </a:p>
          <a:p>
            <a:pPr>
              <a:buNone/>
            </a:pPr>
            <a:r>
              <a:rPr lang="en-IN" dirty="0" err="1"/>
              <a:t>Analyzing</a:t>
            </a:r>
            <a:r>
              <a:rPr lang="en-IN" dirty="0"/>
              <a:t> doctor workload and room utilization for better resource planning.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Query Optimization</a:t>
            </a:r>
          </a:p>
          <a:p>
            <a:pPr>
              <a:buNone/>
            </a:pPr>
            <a:r>
              <a:rPr lang="en-IN" dirty="0"/>
              <a:t>Improving execution time for aggregate and multi-table queries.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Testing</a:t>
            </a:r>
          </a:p>
          <a:p>
            <a:pPr>
              <a:buNone/>
            </a:pPr>
            <a:r>
              <a:rPr lang="en-IN" dirty="0"/>
              <a:t>Preparing sample datasets and validating query outputs.</a:t>
            </a:r>
          </a:p>
        </p:txBody>
      </p:sp>
    </p:spTree>
    <p:extLst>
      <p:ext uri="{BB962C8B-B14F-4D97-AF65-F5344CB8AC3E}">
        <p14:creationId xmlns:p14="http://schemas.microsoft.com/office/powerpoint/2010/main" val="283689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5EB961-30E5-A51D-14C8-32CFEFF2DC15}"/>
              </a:ext>
            </a:extLst>
          </p:cNvPr>
          <p:cNvSpPr txBox="1"/>
          <p:nvPr/>
        </p:nvSpPr>
        <p:spPr>
          <a:xfrm>
            <a:off x="1032387" y="609204"/>
            <a:ext cx="89965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CONCLUSION:-</a:t>
            </a:r>
            <a:endParaRPr lang="en-I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2000" dirty="0"/>
              <a:t>The </a:t>
            </a:r>
            <a:r>
              <a:rPr lang="en-IN" sz="2000" b="1" dirty="0" err="1"/>
              <a:t>CarePlus</a:t>
            </a:r>
            <a:r>
              <a:rPr lang="en-IN" sz="2000" b="1" dirty="0"/>
              <a:t> Hospital Management System</a:t>
            </a:r>
            <a:r>
              <a:rPr lang="en-IN" sz="2000" dirty="0"/>
              <a:t> provides an efficient database solution for managing patients, doctors, appointments, treatments, and rooms.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5F0E3-164E-4CC6-E0D5-38C4FEC18DB2}"/>
              </a:ext>
            </a:extLst>
          </p:cNvPr>
          <p:cNvSpPr txBox="1"/>
          <p:nvPr/>
        </p:nvSpPr>
        <p:spPr>
          <a:xfrm>
            <a:off x="1032387" y="1686422"/>
            <a:ext cx="973393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Key achievements include:</a:t>
            </a:r>
            <a:endParaRPr lang="en-IN" sz="2400" dirty="0">
              <a:solidFill>
                <a:srgbClr val="FF0000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Well-structured relational database design.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Proper implementation of primary and foreign keys.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Efficient management of patient and appointment information.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Analysis of doctor activity and workload.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Evaluation of treatment performance.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Monitoring of treatment duration and waiting time.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Analysis of room availability and utilization.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Successful execution of analytical SQL queries.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Generation of meaningful business insights for hospital operations.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Scalable architecture that can be extended with billing, prescriptions, medical records, and advanced analytics.</a:t>
            </a:r>
          </a:p>
        </p:txBody>
      </p:sp>
    </p:spTree>
    <p:extLst>
      <p:ext uri="{BB962C8B-B14F-4D97-AF65-F5344CB8AC3E}">
        <p14:creationId xmlns:p14="http://schemas.microsoft.com/office/powerpoint/2010/main" val="561965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D1A3-48F9-947C-0B59-AB7305A7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477" y="2687022"/>
            <a:ext cx="10440695" cy="1107996"/>
          </a:xfrm>
        </p:spPr>
        <p:txBody>
          <a:bodyPr/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41649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1044</Words>
  <Application>Microsoft Office PowerPoint</Application>
  <PresentationFormat>Widescreen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1_Office Theme</vt:lpstr>
      <vt:lpstr>CAREPLUS HOSPITAL MANAGEMENT  SYSTEM  BUSINESS ANALYTICS PROJECT </vt:lpstr>
      <vt:lpstr>ABOUT TEAM MEMBERS:-</vt:lpstr>
      <vt:lpstr>AGENDA:-</vt:lpstr>
      <vt:lpstr>BUSINESS OBJECTIVES:-</vt:lpstr>
      <vt:lpstr>PowerPoint Presentation</vt:lpstr>
      <vt:lpstr>ENTITY-RELATIONSHIP DIAGRAM:</vt:lpstr>
      <vt:lpstr>PowerPoint Presentation</vt:lpstr>
      <vt:lpstr>SQL QUERIES: PATIENT &amp; APPOINTMENT INSIGHTS:-  1. Identify the top 5 patients based on the number of appointments.                 OutPut:  </vt:lpstr>
      <vt:lpstr>2. Identify patients who have more than 5 appointments.         Output:      </vt:lpstr>
      <vt:lpstr>APPOINTMENT ANALYSIS 3. Calculate the average estimated appointment cost for each patient type.       Output:    4. Identify the city with the highest total estimated appointment value.       Output:  </vt:lpstr>
      <vt:lpstr>5. Identify the top 5 patients based on their cumulative estimated appointment value.              Output: </vt:lpstr>
      <vt:lpstr>SQL QUERIES: TREATMENT PERFORMANCE INSIGHTS:-  6. Compare treatment outcomes across different cities.           Output: </vt:lpstr>
      <vt:lpstr>7. Calculate the number of treatments for each treatment status. Treatment status include:  Completed  Rescheduled   Cancelled  No-Show  In Progress        Output: </vt:lpstr>
      <vt:lpstr>TREATMENT &amp; OPERATIONAL ANALYSIS 8. Calculate the minimum, maximum, and average treatment duration and waiting time.          Output:    </vt:lpstr>
      <vt:lpstr>  10. Compare treatment performance over time based on appointment date and treatment status            Output:</vt:lpstr>
      <vt:lpstr>DOCTOR &amp; ROOM ANALYSIS:  11. Analyze appointment activity for each doctor.           Output:</vt:lpstr>
      <vt:lpstr>  12. Identify doctors handling the highest number of appointments.              Output:</vt:lpstr>
      <vt:lpstr>PowerPoint Presentation</vt:lpstr>
      <vt:lpstr>HOSPITAL PERFORMANCE INSIGHTS: 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raj Achari</dc:creator>
  <cp:lastModifiedBy>jagadeesh bunny</cp:lastModifiedBy>
  <cp:revision>5</cp:revision>
  <dcterms:created xsi:type="dcterms:W3CDTF">2026-09-08T07:30:34Z</dcterms:created>
  <dcterms:modified xsi:type="dcterms:W3CDTF">2026-09-10T07:19:22Z</dcterms:modified>
</cp:coreProperties>
</file>